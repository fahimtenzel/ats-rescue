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Urbanist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Urbanist-bold.fntdata"/><Relationship Id="rId12" Type="http://schemas.openxmlformats.org/officeDocument/2006/relationships/font" Target="fonts/Urbanis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-boldItalic.fntdata"/><Relationship Id="rId14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a31c5e68d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a31c5e68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push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9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345656" y="2409825"/>
            <a:ext cx="5500687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Fluentorr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476625" y="3743325"/>
            <a:ext cx="523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AI-Powered ATS Resume Analyzer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56594"/>
            <a:ext cx="5334000" cy="265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756594"/>
            <a:ext cx="5334000" cy="265747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62025" y="3375719"/>
            <a:ext cx="478059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The Challenge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62025" y="3823394"/>
            <a:ext cx="45529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Qualified candidates are often rejected by Applicant Tracking Systems (ATS) due to keyword mismatch and formatting. Job seekers lack objective, actionable feedback on why they fail to get noticed.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6677025" y="3375719"/>
            <a:ext cx="478059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The Fluentorr Solution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677025" y="3823394"/>
            <a:ext cx="455295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An intelligent platform that analyzes a resume against a job description to provide an instant ATS score, a detailed skill gap analysis, and AI-driven (Gemini) improvement suggestions.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The ATS </a:t>
            </a:r>
            <a:r>
              <a:rPr b="1" i="0" lang="en-US" sz="36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"Black Box"</a:t>
            </a:r>
            <a:r>
              <a:rPr b="1" i="0" lang="en-US" sz="3600" u="none" cap="none" strike="noStrik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 Problem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38710"/>
            <a:ext cx="3492549" cy="30932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538710"/>
            <a:ext cx="3492549" cy="30932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538710"/>
            <a:ext cx="3492549" cy="309324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866775" y="3634085"/>
            <a:ext cx="196024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Frontend (Streamlit)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66775" y="4205585"/>
            <a:ext cx="2901999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A modern, user-friendly web interface for simple resume/JD uploads and clear, interactive result visualization.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4645074" y="3634085"/>
            <a:ext cx="174021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Backend (FastAPI)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4645074" y="4205585"/>
            <a:ext cx="2901999" cy="9596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A high-performance, scalable API to handle file processing, NLP tasks, scoring, and database operations efficiently.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8423374" y="3634085"/>
            <a:ext cx="134016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AI &amp; NLP Core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8423374" y="4205585"/>
            <a:ext cx="2901999" cy="7197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Utilizes spaCy, TF-IDF, and Cosine Similarity for analysis, plus Google Gemini for generative AI feedback.</a:t>
            </a:r>
            <a:endParaRPr/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853035"/>
            <a:ext cx="3905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285303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285303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Core </a:t>
            </a:r>
            <a:r>
              <a:rPr b="1" i="0" lang="en-US" sz="36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Technology</a:t>
            </a:r>
            <a:r>
              <a:rPr b="1" i="0" lang="en-US" sz="3600" u="none" cap="none" strike="noStrik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 Stack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52918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3331071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09750" y="413295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09750" y="493484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2286000" y="2481560"/>
            <a:ext cx="809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Instant ATS Scoring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2286000" y="2805410"/>
            <a:ext cx="80962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Get a comprehensive score based on keyword relevance, skill matching, and resume structure.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2286000" y="3283446"/>
            <a:ext cx="809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JD-Resume Matching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2286000" y="3607296"/>
            <a:ext cx="80962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See a detailed percentage match against the job description and identify crucial missing skills.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2286000" y="4085332"/>
            <a:ext cx="809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AI-Powered Coach (Gemini)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2286000" y="4409182"/>
            <a:ext cx="80962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Receive personalized, human-like suggestions to improve phrasing, structure, and overall impact.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2286000" y="4887217"/>
            <a:ext cx="8096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Structure &amp; Quality Check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2286000" y="5211067"/>
            <a:ext cx="8096250" cy="23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Evaluates the presence and strength of key sections like 'Experience', 'Skills', and 'Summary'.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Key </a:t>
            </a:r>
            <a:r>
              <a:rPr b="1" i="0" lang="en-US" sz="36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Features</a:t>
            </a:r>
            <a:r>
              <a:rPr b="1" i="0" lang="en-US" sz="3600" u="none" cap="none" strike="noStrik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 &amp; Use Cases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30712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/>
          <p:nvPr/>
        </p:nvSpPr>
        <p:spPr>
          <a:xfrm>
            <a:off x="571500" y="4066282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1F29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657987" y="4609207"/>
            <a:ext cx="23682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1. Upload &amp; Extract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714375" y="4914007"/>
            <a:ext cx="225549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User uploads resume (PDF, DOCX) and JD. System extracts and cleans all text data.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3493907" y="2594074"/>
            <a:ext cx="23682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2. Analyze &amp; Compare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3550294" y="2898874"/>
            <a:ext cx="2255490" cy="85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NLP models process text, and TF-IDF vectors are created. Cosine similarity calculates the match.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329827" y="4609207"/>
            <a:ext cx="23682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3. Score &amp; Report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386214" y="4914007"/>
            <a:ext cx="225549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A weighted algorithm generates the final ATS score and a detailed skill gap report.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9165747" y="2807344"/>
            <a:ext cx="2368264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4. Feedback (Gemini)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9222134" y="3112144"/>
            <a:ext cx="2255490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Google Gemini generates actionable advice to help the user improve their resume.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1746870" y="399008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30712"/>
          </a:solidFill>
          <a:ln cap="flat" cmpd="sng" w="38100">
            <a:solidFill>
              <a:srgbClr val="A3E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4582790" y="399008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30712"/>
          </a:solidFill>
          <a:ln cap="flat" cmpd="sng" w="38100">
            <a:solidFill>
              <a:srgbClr val="A3E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7418709" y="399008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30712"/>
          </a:solidFill>
          <a:ln cap="flat" cmpd="sng" w="38100">
            <a:solidFill>
              <a:srgbClr val="A3E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10254629" y="399008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30712"/>
          </a:solidFill>
          <a:ln cap="flat" cmpd="sng" w="38100">
            <a:solidFill>
              <a:srgbClr val="A3E6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571500" y="950862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How It Works: </a:t>
            </a:r>
            <a:r>
              <a:rPr b="1" i="0" lang="en-US" sz="3600" u="none" cap="none" strike="noStrike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The Pipeline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1161475" y="3105750"/>
            <a:ext cx="7564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00">
                <a:solidFill>
                  <a:srgbClr val="F9FAFB"/>
                </a:solidFill>
                <a:latin typeface="Urbanist"/>
                <a:ea typeface="Urbanist"/>
                <a:cs typeface="Urbanist"/>
                <a:sym typeface="Urbanist"/>
              </a:rPr>
              <a:t>thank </a:t>
            </a:r>
            <a:r>
              <a:rPr b="1" lang="en-US" sz="4200">
                <a:solidFill>
                  <a:srgbClr val="A3E635"/>
                </a:solidFill>
                <a:latin typeface="Urbanist"/>
                <a:ea typeface="Urbanist"/>
                <a:cs typeface="Urbanist"/>
                <a:sym typeface="Urbanist"/>
              </a:rPr>
              <a:t>you</a:t>
            </a:r>
            <a:endParaRPr sz="2000">
              <a:solidFill>
                <a:srgbClr val="A3E635"/>
              </a:solidFill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780475" y="3752257"/>
            <a:ext cx="2255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for this </a:t>
            </a:r>
            <a:r>
              <a:rPr lang="en-US" sz="1200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opportunity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